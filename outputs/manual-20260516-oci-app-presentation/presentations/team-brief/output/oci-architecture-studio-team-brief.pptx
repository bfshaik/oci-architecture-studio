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value proposition. Keep it grounded: faster review, consistent structure, evidence-backed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8755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OCI Architecture Studio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21792" y="170078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52606D"/>
                </a:solidFill>
              </a:rPr>
              <a:t>AI-powered architecture review assistant for OCI decisions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21792" y="25146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743200"/>
            <a:ext cx="43891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presentation objective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3054096"/>
            <a:ext cx="438912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how the app turns an architecture question into a grounded, structured, reviewable OCI recommendation.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 rot="1500000">
            <a:off x="7863840" y="1024128"/>
            <a:ext cx="2788920" cy="2788920"/>
          </a:xfrm>
          <a:prstGeom prst="arc">
            <a:avLst/>
          </a:prstGeom>
          <a:solidFill>
            <a:srgbClr val="FFFFFF">
              <a:alpha val="0"/>
            </a:srgbClr>
          </a:solidFill>
          <a:ln w="63500">
            <a:solidFill>
              <a:srgbClr val="C746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2300000">
            <a:off x="8321040" y="1481328"/>
            <a:ext cx="1874520" cy="1874520"/>
          </a:xfrm>
          <a:prstGeom prst="arc">
            <a:avLst/>
          </a:prstGeom>
          <a:solidFill>
            <a:srgbClr val="FFFFFF">
              <a:alpha val="0"/>
            </a:srgbClr>
          </a:solidFill>
          <a:ln w="63500">
            <a:solidFill>
              <a:srgbClr val="3650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4800000">
            <a:off x="8778240" y="1938528"/>
            <a:ext cx="960120" cy="960120"/>
          </a:xfrm>
          <a:prstGeom prst="arc">
            <a:avLst/>
          </a:prstGeom>
          <a:solidFill>
            <a:srgbClr val="FFFFFF">
              <a:alpha val="0"/>
            </a:srgbClr>
          </a:solidFill>
          <a:ln w="635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459028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36506F"/>
          </a:solidFill>
          <a:ln w="12700">
            <a:solidFill>
              <a:srgbClr val="3650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4658868"/>
            <a:ext cx="99669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minutes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1901952" y="4590288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75104" y="4658868"/>
            <a:ext cx="1024128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ready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218688" y="459028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4658868"/>
            <a:ext cx="7223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v1.0.4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21792" y="5961888"/>
            <a:ext cx="8138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talk track: “This is a practical assistant for repeatable architecture reviews, not a replacement for architects.”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173968" y="643737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06D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Architecture Studio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review problem this app is solving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21240" y="3474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v1.0.4 staging brief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520440" cy="431596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61688" y="1325880"/>
            <a:ext cx="3520440" cy="431596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29016" y="1325880"/>
            <a:ext cx="3520440" cy="431596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664208"/>
            <a:ext cx="29718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2240280"/>
            <a:ext cx="278892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OCI document lookup</a:t>
            </a:r>
            <a:endParaRPr lang="en-US" sz="1400" dirty="0"/>
          </a:p>
          <a:p>
            <a:r>
              <a:rPr lang="en-US" sz="140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review depth</a:t>
            </a:r>
            <a:endParaRPr lang="en-US" sz="1400" dirty="0"/>
          </a:p>
          <a:p>
            <a:r>
              <a:rPr lang="en-US" sz="140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architecture questions</a:t>
            </a:r>
            <a:endParaRPr lang="en-US" sz="1400" dirty="0"/>
          </a:p>
          <a:p>
            <a:r>
              <a:rPr lang="en-US" sz="140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scattered across sources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1664208"/>
            <a:ext cx="29718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65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240280"/>
            <a:ext cx="278892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review flow</a:t>
            </a:r>
            <a:endParaRPr lang="en-US" sz="1400" dirty="0"/>
          </a:p>
          <a:p>
            <a:r>
              <a:rPr lang="en-US" sz="140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Prompt-specific recommendations</a:t>
            </a:r>
            <a:endParaRPr lang="en-US" sz="1400" dirty="0"/>
          </a:p>
          <a:p>
            <a:r>
              <a:rPr lang="en-US" sz="140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tradeoffs and risks</a:t>
            </a:r>
            <a:endParaRPr lang="en-US" sz="1400" dirty="0"/>
          </a:p>
          <a:p>
            <a:r>
              <a:rPr lang="en-US" sz="140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Clickable evidence for validation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1664208"/>
            <a:ext cx="29718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30768" y="2240280"/>
            <a:ext cx="278892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first-pass reviews</a:t>
            </a:r>
            <a:endParaRPr lang="en-US" sz="1400" dirty="0"/>
          </a:p>
          <a:p>
            <a:r>
              <a:rPr lang="en-US" sz="140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consistent architecture language</a:t>
            </a:r>
            <a:endParaRPr lang="en-US" sz="1400" dirty="0"/>
          </a:p>
          <a:p>
            <a:r>
              <a:rPr lang="en-US" sz="140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explainability</a:t>
            </a:r>
            <a:endParaRPr lang="en-US" sz="1400" dirty="0"/>
          </a:p>
          <a:p>
            <a:r>
              <a:rPr lang="en-US" sz="140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safer path to GenAI adoption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6108192"/>
            <a:ext cx="8961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message: the product reduces review friction while keeping the recommendation traceable.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73968" y="643737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06D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Architecture Studio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app produces from one prompt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21240" y="3474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v1.0.4 staging brief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48920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664208"/>
            <a:ext cx="146304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993392"/>
            <a:ext cx="406908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“How should I deploy a stateless web app on OCI?”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4114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prompt stays visible at the top after Review so users can quickly refine and rerun.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4187952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36506F"/>
          </a:solidFill>
          <a:ln w="12700">
            <a:solidFill>
              <a:srgbClr val="3650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256532"/>
            <a:ext cx="67665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1874520" y="418795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47672" y="4256532"/>
            <a:ext cx="76809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926080" y="4187952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4256532"/>
            <a:ext cx="67665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989320" y="132588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7648" y="173736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87968" y="173736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911096"/>
            <a:ext cx="19202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052560" y="1911096"/>
            <a:ext cx="17830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services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27648" y="256032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87968" y="25603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734056"/>
            <a:ext cx="19202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52560" y="2734056"/>
            <a:ext cx="17830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 plan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7648" y="338328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87968" y="338328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557016"/>
            <a:ext cx="19202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52560" y="3557016"/>
            <a:ext cx="17830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27648" y="420624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87968" y="420624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379976"/>
            <a:ext cx="19202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052560" y="4379976"/>
            <a:ext cx="17830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09360" y="5102352"/>
            <a:ext cx="4572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is structured so it is easier to review than a single wall of generated text.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173968" y="643737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06D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Architecture Studio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request flow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21240" y="3474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v1.0.4 staging brief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36506F"/>
          </a:solidFill>
          <a:ln w="12700">
            <a:solidFill>
              <a:srgbClr val="36506F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1956816"/>
            <a:ext cx="1197864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prompt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2249424"/>
            <a:ext cx="119786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E8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+ options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2514600" y="18288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24328" y="1956816"/>
            <a:ext cx="1197864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UI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24328" y="2249424"/>
            <a:ext cx="119786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E8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composer + tabs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4370832" y="18288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1956816"/>
            <a:ext cx="1197864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API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80560" y="2249424"/>
            <a:ext cx="119786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E8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/architecture-review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6227064" y="18288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36506F"/>
          </a:solidFill>
          <a:ln w="12700">
            <a:solidFill>
              <a:srgbClr val="36506F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36792" y="1956816"/>
            <a:ext cx="1197864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36792" y="2249424"/>
            <a:ext cx="119786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E8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index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8083296" y="18288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93024" y="1956816"/>
            <a:ext cx="1197864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93024" y="2249424"/>
            <a:ext cx="119786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E8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logic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9939528" y="18288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49256" y="1956816"/>
            <a:ext cx="1197864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UI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49256" y="2249424"/>
            <a:ext cx="119786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E8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+ actions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103120" y="2240280"/>
            <a:ext cx="384048" cy="0"/>
          </a:xfrm>
          <a:prstGeom prst="line">
            <a:avLst/>
          </a:prstGeom>
          <a:noFill/>
          <a:ln w="17780">
            <a:solidFill>
              <a:srgbClr val="36506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959352" y="2240280"/>
            <a:ext cx="384048" cy="0"/>
          </a:xfrm>
          <a:prstGeom prst="line">
            <a:avLst/>
          </a:prstGeom>
          <a:noFill/>
          <a:ln w="17780">
            <a:solidFill>
              <a:srgbClr val="36506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15584" y="2240280"/>
            <a:ext cx="384048" cy="0"/>
          </a:xfrm>
          <a:prstGeom prst="line">
            <a:avLst/>
          </a:prstGeom>
          <a:noFill/>
          <a:ln w="17780">
            <a:solidFill>
              <a:srgbClr val="36506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671816" y="2240280"/>
            <a:ext cx="384048" cy="0"/>
          </a:xfrm>
          <a:prstGeom prst="line">
            <a:avLst/>
          </a:prstGeom>
          <a:noFill/>
          <a:ln w="17780">
            <a:solidFill>
              <a:srgbClr val="36506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28048" y="2240280"/>
            <a:ext cx="384048" cy="0"/>
          </a:xfrm>
          <a:prstGeom prst="line">
            <a:avLst/>
          </a:prstGeom>
          <a:noFill/>
          <a:ln w="17780">
            <a:solidFill>
              <a:srgbClr val="36506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3232" y="36576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3913632"/>
            <a:ext cx="2834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structure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60120" y="4279392"/>
            <a:ext cx="27432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API returns a stable schema so the frontend renders consistently.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416552" y="36576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913632"/>
            <a:ext cx="2834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evidence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663440" y="4279392"/>
            <a:ext cx="27432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retrieval layer pulls OCI knowledge chunks and release-aware context.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119872" y="36576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3913632"/>
            <a:ext cx="2834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output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366760" y="4279392"/>
            <a:ext cx="27432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Recommendations, risks, and citations are separated for team validation.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11173968" y="643737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06D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Architecture Studio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Audience question: is the information hardcoded?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21240" y="3474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v1.0.4 staging brief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0292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1737360"/>
            <a:ext cx="12801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answer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43434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The layout is fixed for consistency, but the recommendation content is driven by the prompt and retrieved OCI knowledge.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4128" y="4005072"/>
            <a:ext cx="42062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distinction matters: structure is controlled; evidence and recommendations are prompt-specific.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783080"/>
            <a:ext cx="20116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65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fixed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176272"/>
            <a:ext cx="19659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sections</a:t>
            </a:r>
            <a:endParaRPr lang="en-US" sz="1250" dirty="0"/>
          </a:p>
          <a:p>
            <a:r>
              <a:rPr lang="en-US" sz="12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schema</a:t>
            </a:r>
            <a:endParaRPr lang="en-US" sz="1250" dirty="0"/>
          </a:p>
          <a:p>
            <a:r>
              <a:rPr lang="en-US" sz="12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tabs</a:t>
            </a:r>
            <a:endParaRPr lang="en-US" sz="1250" dirty="0"/>
          </a:p>
          <a:p>
            <a:r>
              <a:rPr lang="en-US" sz="12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defaults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15400" y="1783080"/>
            <a:ext cx="20116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dynamic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0" y="2176272"/>
            <a:ext cx="205740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chunks</a:t>
            </a:r>
            <a:endParaRPr lang="en-US" sz="1250" dirty="0"/>
          </a:p>
          <a:p>
            <a:r>
              <a:rPr lang="en-US" sz="12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Citations</a:t>
            </a:r>
            <a:endParaRPr lang="en-US" sz="1250" dirty="0"/>
          </a:p>
          <a:p>
            <a:r>
              <a:rPr lang="en-US" sz="12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guidance</a:t>
            </a:r>
            <a:endParaRPr lang="en-US" sz="1250" dirty="0"/>
          </a:p>
          <a:p>
            <a:r>
              <a:rPr lang="en-US" sz="12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and tradeoffs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4663440"/>
            <a:ext cx="4343400" cy="658368"/>
          </a:xfrm>
          <a:prstGeom prst="roundRect">
            <a:avLst>
              <a:gd name="adj" fmla="val 11111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4882896"/>
            <a:ext cx="37947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 synthesis is OCI GenAI today; deterministic mode remains the rollback switch.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73968" y="643737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06D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Architecture Studio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path for a 3-minute walkthrough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21240" y="3474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v1.0.4 staging brief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783080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1901952"/>
            <a:ext cx="164592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999232"/>
            <a:ext cx="201168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Use: “How should I deploy a stateless web app on OCI?”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19272" y="3255264"/>
            <a:ext cx="256032" cy="0"/>
          </a:xfrm>
          <a:prstGeom prst="line">
            <a:avLst/>
          </a:prstGeom>
          <a:noFill/>
          <a:ln w="17780">
            <a:solidFill>
              <a:srgbClr val="36506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74720" y="15087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03320" y="1783080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1901952"/>
            <a:ext cx="164592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03320" y="2999232"/>
            <a:ext cx="201168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executive summary, recommended services, and topology.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08192" y="3255264"/>
            <a:ext cx="256032" cy="0"/>
          </a:xfrm>
          <a:prstGeom prst="line">
            <a:avLst/>
          </a:prstGeom>
          <a:noFill/>
          <a:ln w="17780">
            <a:solidFill>
              <a:srgbClr val="36506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63640" y="15087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1783080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0256" y="1901952"/>
            <a:ext cx="164592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2999232"/>
            <a:ext cx="201168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citations and explain that evidence is traceable.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897112" y="3255264"/>
            <a:ext cx="256032" cy="0"/>
          </a:xfrm>
          <a:prstGeom prst="line">
            <a:avLst/>
          </a:prstGeom>
          <a:noFill/>
          <a:ln w="17780">
            <a:solidFill>
              <a:srgbClr val="36506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52560" y="15087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81160" y="1783080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9176" y="1901952"/>
            <a:ext cx="164592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116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81160" y="2999232"/>
            <a:ext cx="201168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out the prompt/options stay pinned at the top.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9808" y="5715000"/>
            <a:ext cx="81381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rule: keep it simple. One prompt, one response, one citation click, one refinement.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173968" y="643737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06D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Architecture Studio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project status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21240" y="3474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v1.0.4 staging brief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now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212848"/>
            <a:ext cx="265176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4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 backend and frontend deployed</a:t>
            </a:r>
            <a:endParaRPr lang="en-US" sz="1340" dirty="0"/>
          </a:p>
          <a:p>
            <a:r>
              <a:rPr lang="en-US" sz="134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and smoke checks passing</a:t>
            </a:r>
            <a:endParaRPr lang="en-US" sz="1340" dirty="0"/>
          </a:p>
          <a:p>
            <a:r>
              <a:rPr lang="en-US" sz="134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output organized into tabs</a:t>
            </a:r>
            <a:endParaRPr lang="en-US" sz="1340" dirty="0"/>
          </a:p>
          <a:p>
            <a:r>
              <a:rPr lang="en-US" sz="134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Prompt/options composer stays on top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GenAI active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09160" y="2212848"/>
            <a:ext cx="265176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4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 uses ADVISORY_SYNTHESIS_PROVIDER=oci_genai</a:t>
            </a:r>
            <a:endParaRPr lang="en-US" sz="1340" dirty="0"/>
          </a:p>
          <a:p>
            <a:r>
              <a:rPr lang="en-US" sz="134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smoke returned no synthesis fallback</a:t>
            </a:r>
            <a:endParaRPr lang="en-US" sz="1340" dirty="0"/>
          </a:p>
          <a:p>
            <a:r>
              <a:rPr lang="en-US" sz="134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mode remains rollback option</a:t>
            </a:r>
            <a:endParaRPr lang="en-US" sz="1340" dirty="0"/>
          </a:p>
          <a:p>
            <a:r>
              <a:rPr lang="en-US" sz="134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tagged v1.0.4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5820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next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58200" y="2212848"/>
            <a:ext cx="265176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4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team feedback on GenAI answers</a:t>
            </a:r>
            <a:endParaRPr lang="en-US" sz="1340" dirty="0"/>
          </a:p>
          <a:p>
            <a:r>
              <a:rPr lang="en-US" sz="134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semantic retrieval with OCI embeddings</a:t>
            </a:r>
            <a:endParaRPr lang="en-US" sz="1340" dirty="0"/>
          </a:p>
          <a:p>
            <a:r>
              <a:rPr lang="en-US" sz="134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eval quality and latency</a:t>
            </a:r>
            <a:endParaRPr lang="en-US" sz="1340" dirty="0"/>
          </a:p>
          <a:p>
            <a:r>
              <a:rPr lang="en-US" sz="134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production promotion checklist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11173968" y="643737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06D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Architecture Studio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Close: what the team should remember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21240" y="3474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v1.0.4 staging brief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10652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9A3B3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783080"/>
            <a:ext cx="9784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Architecture Studio gives teams a faster, evidence-backed starting point for OCI architecture decisions.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691640" y="2505456"/>
            <a:ext cx="86868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designed to assist architects with consistent structure, retrieved evidence, and reviewable recommendations.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143000" y="391363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391363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5320" y="391363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4187952"/>
            <a:ext cx="21945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4498848"/>
            <a:ext cx="2194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First-pass reviews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83480" y="4187952"/>
            <a:ext cx="21945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65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4498848"/>
            <a:ext cx="2194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output model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49640" y="4187952"/>
            <a:ext cx="21945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49640" y="4498848"/>
            <a:ext cx="2194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and citations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5897880"/>
            <a:ext cx="9875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ask: use staging with real prompts and mark where the recommendation is right, unclear, or missing context.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11173968" y="643737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06D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OCI Architecture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OCI Architecture Studio Team Brief</dc:title>
  <dc:subject>15-minute team presentation</dc:subject>
  <dc:creator>OCI Architecture Studio</dc:creator>
  <cp:lastModifiedBy>OCI Architecture Studio</cp:lastModifiedBy>
  <cp:revision>1</cp:revision>
  <dcterms:created xsi:type="dcterms:W3CDTF">2026-05-17T00:00:27Z</dcterms:created>
  <dcterms:modified xsi:type="dcterms:W3CDTF">2026-05-17T00:00:27Z</dcterms:modified>
</cp:coreProperties>
</file>